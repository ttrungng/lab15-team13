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1E3BB"/>
          </a:solidFill>
          <a:ln w="12700">
            <a:solidFill>
              <a:srgbClr val="21E3B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457200"/>
            <a:ext cx="1645920" cy="164592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48640"/>
            <a:ext cx="914400" cy="914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1480" y="13716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Clinical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411480" y="21031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E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Assistant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41148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tích hợp HIS/EMR – Hỗ trợ lâm sàng &amp; hành chính bệnh viện 24/7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411480" y="3566160"/>
            <a:ext cx="265176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3675888"/>
            <a:ext cx="411480" cy="411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361188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E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nhân viên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1005840" y="39776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Bác sĩ · Điều dưỡng · Hành chính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3246120" y="3566160"/>
            <a:ext cx="265176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3675888"/>
            <a:ext cx="411480" cy="411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840480" y="361188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E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req/ngày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3840480" y="39776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tokens/ngày (MVP)</a:t>
            </a:r>
            <a:endParaRPr lang="en-US" sz="900" dirty="0"/>
          </a:p>
        </p:txBody>
      </p:sp>
      <p:sp>
        <p:nvSpPr>
          <p:cNvPr id="16" name="Shape 10"/>
          <p:cNvSpPr/>
          <p:nvPr/>
        </p:nvSpPr>
        <p:spPr>
          <a:xfrm>
            <a:off x="6080760" y="3566160"/>
            <a:ext cx="265176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488" y="3675888"/>
            <a:ext cx="411480" cy="4114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675120" y="361188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E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Deployment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6675120" y="39776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+ Cloud API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41148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Nhóm: Nguyễn Tuấn Kiệt · Mã Khoa Học · Nguyễn Việt Trung · Trần Ngô Hồng Hà · Hà Việt Khánh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828800" cy="274320"/>
          </a:xfrm>
          <a:prstGeom prst="rect">
            <a:avLst/>
          </a:prstGeom>
          <a:solidFill>
            <a:srgbClr val="21E3BB"/>
          </a:solidFill>
          <a:ln w="12700">
            <a:solidFill>
              <a:srgbClr val="21E3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1C2E"/>
                </a:solidFill>
              </a:rPr>
              <a:t>SLIDE 2 · ENTERPRISE CONTEXT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 Enterprise &amp; Ràng buộc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402336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07008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Bệnh viện Đa khoa Hạng Đặc biệt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43000" y="15361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mô lớn · Hoạt động 24/7 · HIS/EMR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11480" y="2103120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945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21488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005840" y="240487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CCCD, BHYT, thông tin liên lạc bệnh nhân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11480" y="2816352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07792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05840" y="28620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1005840" y="31181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Bệnh án EMR, xét nghiệm, hình ảnh, thuốc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411480" y="3529584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621024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05840" y="357530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Vận hành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1005840" y="383133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nội bộ, biểu mẫu, quy định BYT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4709160" y="11430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Ràng buộc Enterprise Lớn nhất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4709160" y="1536192"/>
            <a:ext cx="402336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09160" y="1536192"/>
            <a:ext cx="128016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1645920"/>
            <a:ext cx="384048" cy="38404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349240" y="160934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 &amp; Quyền riêng tư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5349240" y="193852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KHÔNG rời lãnh thổ VN. Mã hóa đa lớp, RBAC theo vai trò.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4709160" y="2633472"/>
            <a:ext cx="402336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709160" y="2633472"/>
            <a:ext cx="128016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743200"/>
            <a:ext cx="384048" cy="38404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349240" y="270662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 năng tích hợp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5349240" y="303580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 tương thích HIS/EMR/LIS qua chuẩn HL7 &amp; FHIR.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4709160" y="3730752"/>
            <a:ext cx="402336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4709160" y="3730752"/>
            <a:ext cx="128016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3840480"/>
            <a:ext cx="384048" cy="38404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5349240" y="380390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 cậy &amp; Audit Trail</a:t>
            </a:r>
            <a:endParaRPr lang="en-US" sz="1200" dirty="0"/>
          </a:p>
        </p:txBody>
      </p:sp>
      <p:sp>
        <p:nvSpPr>
          <p:cNvPr id="36" name="Text 27"/>
          <p:cNvSpPr/>
          <p:nvPr/>
        </p:nvSpPr>
        <p:spPr>
          <a:xfrm>
            <a:off x="5349240" y="41330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phản hồi AI phải có nguồn rõ ràng và log đầy đủ (ai hỏi, AI trả lời gì).</a:t>
            </a:r>
            <a:endParaRPr lang="en-US" sz="950" dirty="0"/>
          </a:p>
        </p:txBody>
      </p:sp>
      <p:sp>
        <p:nvSpPr>
          <p:cNvPr id="37" name="Shape 28"/>
          <p:cNvSpPr/>
          <p:nvPr/>
        </p:nvSpPr>
        <p:spPr>
          <a:xfrm>
            <a:off x="411480" y="4663440"/>
            <a:ext cx="402336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411480" y="4663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Mức độ nhạy cảm dữ liệu: CỰC KỲ NHẠY CẢM (CRITICAL)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828800" cy="274320"/>
          </a:xfrm>
          <a:prstGeom prst="rect">
            <a:avLst/>
          </a:prstGeom>
          <a:solidFill>
            <a:srgbClr val="21E3BB"/>
          </a:solidFill>
          <a:ln w="12700">
            <a:solidFill>
              <a:srgbClr val="21E3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1C2E"/>
                </a:solidFill>
              </a:rPr>
              <a:t>SLIDE 3 · DEPLOYMENT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Triển khai: Hybrid Cloud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3840480" cy="3200400"/>
          </a:xfrm>
          <a:prstGeom prst="rect">
            <a:avLst/>
          </a:prstGeom>
          <a:solidFill>
            <a:srgbClr val="065A82"/>
          </a:solidFill>
          <a:ln w="25400">
            <a:solidFill>
              <a:srgbClr val="21E3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1E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544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62763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(vLLM/Ollama)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20116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bệnh án EMR &amp; dữ liệu PHI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94360" y="248716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lưu phác đồ nội bộ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94360" y="2962656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Tóm tắt lâm sàng phức tạp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94360" y="343814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KHÔNG rời server bệnh viện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43400" y="2560320"/>
            <a:ext cx="731520" cy="73152"/>
          </a:xfrm>
          <a:prstGeom prst="rect">
            <a:avLst/>
          </a:prstGeom>
          <a:solidFill>
            <a:srgbClr val="21E3BB"/>
          </a:solidFill>
          <a:ln w="12700">
            <a:solidFill>
              <a:srgbClr val="21E3B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97680" y="22860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1E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4315968" y="272491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1E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074920" y="1143000"/>
            <a:ext cx="3657600" cy="32004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E3B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66360" y="12344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1E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CLOUD</a:t>
            </a:r>
            <a:endParaRPr lang="en-US" sz="13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554480"/>
            <a:ext cx="502920" cy="5029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852160" y="16276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/ Claude Haiku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166360" y="20116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hành chính &amp; thủ tục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166360" y="248716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 cứu quy định bảo hiểm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166360" y="296265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đã ẩn danh (anonymized)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5166360" y="343814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tải nhẹ, chi phí thấp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11480" y="4480560"/>
            <a:ext cx="8321040" cy="548640"/>
          </a:xfrm>
          <a:prstGeom prst="rect">
            <a:avLst/>
          </a:prstGeom>
          <a:solidFill>
            <a:srgbClr val="0A2840"/>
          </a:solidFill>
          <a:ln w="12700">
            <a:solidFill>
              <a:srgbClr val="21E3B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02920" y="45079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E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Bảo mật tuyệt đối dữ liệu PHI tại chỗ  ·  ✓  Vẫn hoạt động khi mất internet  ·  ✓  Tối ưu chi phí theo loại task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828800" cy="274320"/>
          </a:xfrm>
          <a:prstGeom prst="rect">
            <a:avLst/>
          </a:prstGeom>
          <a:solidFill>
            <a:srgbClr val="21E3BB"/>
          </a:solidFill>
          <a:ln w="12700">
            <a:solidFill>
              <a:srgbClr val="21E3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1C2E"/>
                </a:solidFill>
              </a:rPr>
              <a:t>SLIDE 4 · COST ANATOMY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Chi phí (MVP Stage)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196596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1615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E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156362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0" y="1188720"/>
            <a:ext cx="196596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21615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E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60320" y="156362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Req/ngày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188720"/>
            <a:ext cx="196596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21615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E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09160" y="156362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Peak/giờ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0" y="1188720"/>
            <a:ext cx="196596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121615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E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858000" y="156362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Tokens/ngày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1993392"/>
            <a:ext cx="83210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1993392"/>
            <a:ext cx="109728" cy="4937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048256"/>
            <a:ext cx="347472" cy="34747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024128" y="20482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Token API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24128" y="226771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traffic hành chính → Cloud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858000" y="20848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$30–50/tháng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11480" y="2542032"/>
            <a:ext cx="83210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11480" y="2542032"/>
            <a:ext cx="109728" cy="4937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96896"/>
            <a:ext cx="347472" cy="34747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024128" y="259689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On-prem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1024128" y="281635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Điện, bảo trì GPU, backup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6858000" y="26334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$100–150/tháng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411480" y="3090672"/>
            <a:ext cx="83210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411480" y="3090672"/>
            <a:ext cx="109728" cy="4937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145536"/>
            <a:ext cx="347472" cy="34747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024128" y="314553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Guardrails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1024128" y="336499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filter, hallucination check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6858000" y="31821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 API cost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411480" y="3639312"/>
            <a:ext cx="83210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411480" y="3639312"/>
            <a:ext cx="109728" cy="4937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694176"/>
            <a:ext cx="347472" cy="347472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1024128" y="369417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1024128" y="391363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nhiều năm, phục vụ thanh tra</a:t>
            </a:r>
            <a:endParaRPr lang="en-US" sz="850" dirty="0"/>
          </a:p>
        </p:txBody>
      </p:sp>
      <p:sp>
        <p:nvSpPr>
          <p:cNvPr id="40" name="Text 34"/>
          <p:cNvSpPr/>
          <p:nvPr/>
        </p:nvSpPr>
        <p:spPr>
          <a:xfrm>
            <a:off x="6858000" y="37307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Ẩn – dễ quên!</a:t>
            </a:r>
            <a:endParaRPr lang="en-US" sz="1200" dirty="0"/>
          </a:p>
        </p:txBody>
      </p:sp>
      <p:sp>
        <p:nvSpPr>
          <p:cNvPr id="41" name="Shape 35"/>
          <p:cNvSpPr/>
          <p:nvPr/>
        </p:nvSpPr>
        <p:spPr>
          <a:xfrm>
            <a:off x="411480" y="4187952"/>
            <a:ext cx="83210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411480" y="4187952"/>
            <a:ext cx="109728" cy="4937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242816"/>
            <a:ext cx="347472" cy="347472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1024128" y="424281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100" dirty="0"/>
          </a:p>
        </p:txBody>
      </p:sp>
      <p:sp>
        <p:nvSpPr>
          <p:cNvPr id="45" name="Text 38"/>
          <p:cNvSpPr/>
          <p:nvPr/>
        </p:nvSpPr>
        <p:spPr>
          <a:xfrm>
            <a:off x="1024128" y="446227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Bác sĩ trưởng khoa kiểm soát</a:t>
            </a:r>
            <a:endParaRPr lang="en-US" sz="850" dirty="0"/>
          </a:p>
        </p:txBody>
      </p:sp>
      <p:sp>
        <p:nvSpPr>
          <p:cNvPr id="46" name="Text 39"/>
          <p:cNvSpPr/>
          <p:nvPr/>
        </p:nvSpPr>
        <p:spPr>
          <a:xfrm>
            <a:off x="6858000" y="42793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quỹ thời gian</a:t>
            </a:r>
            <a:endParaRPr lang="en-US" sz="1200" dirty="0"/>
          </a:p>
        </p:txBody>
      </p:sp>
      <p:sp>
        <p:nvSpPr>
          <p:cNvPr id="47" name="Shape 40"/>
          <p:cNvSpPr/>
          <p:nvPr/>
        </p:nvSpPr>
        <p:spPr>
          <a:xfrm>
            <a:off x="411480" y="4663440"/>
            <a:ext cx="484632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411480" y="46634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MVP: ~$200–350/tháng (chưa tính lương nhân sự)</a:t>
            </a:r>
            <a:endParaRPr lang="en-US" sz="1050" dirty="0"/>
          </a:p>
        </p:txBody>
      </p:sp>
      <p:sp>
        <p:nvSpPr>
          <p:cNvPr id="49" name="Shape 42"/>
          <p:cNvSpPr/>
          <p:nvPr/>
        </p:nvSpPr>
        <p:spPr>
          <a:xfrm>
            <a:off x="5349240" y="4663440"/>
            <a:ext cx="338328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5349240" y="46634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10x → Infrastructure tăng mạnh nhất!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828800" cy="274320"/>
          </a:xfrm>
          <a:prstGeom prst="rect">
            <a:avLst/>
          </a:prstGeom>
          <a:solidFill>
            <a:srgbClr val="21E3BB"/>
          </a:solidFill>
          <a:ln w="12700">
            <a:solidFill>
              <a:srgbClr val="21E3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1C2E"/>
                </a:solidFill>
              </a:rPr>
              <a:t>SLIDE 5 · COST OPTIMIZATION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Chiến lược Tối ưu Chi phí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2651760" cy="3474720"/>
          </a:xfrm>
          <a:prstGeom prst="rect">
            <a:avLst/>
          </a:prstGeom>
          <a:solidFill>
            <a:srgbClr val="065A82"/>
          </a:solidFill>
          <a:ln w="25400">
            <a:solidFill>
              <a:srgbClr val="21E3B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88720"/>
            <a:ext cx="2651760" cy="475488"/>
          </a:xfrm>
          <a:prstGeom prst="rect">
            <a:avLst/>
          </a:prstGeom>
          <a:solidFill>
            <a:srgbClr val="21E3BB"/>
          </a:solidFill>
          <a:ln w="12700">
            <a:solidFill>
              <a:srgbClr val="21E3B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25272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41832" y="126187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Routing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1208" y="173736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E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Làm ngay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21208" y="20116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mạnh Token API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21208" y="233172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nhỏ (GPT-4o-mini, Haiku) → câu hỏi hành chính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lớn (GPT-4o, Sonnet) → tóm tắt bệnh án phức tạp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21208" y="3401568"/>
            <a:ext cx="24231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1208" y="347472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21208" y="3685032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D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lớp Router phân loại query → +latency nhẹ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91840" y="1188720"/>
            <a:ext cx="2651760" cy="3474720"/>
          </a:xfrm>
          <a:prstGeom prst="rect">
            <a:avLst/>
          </a:prstGeom>
          <a:solidFill>
            <a:srgbClr val="065A82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91840" y="1188720"/>
            <a:ext cx="2651760" cy="4754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252728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822192" y="126187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Caching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401568" y="173736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E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Khi &gt;50 users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401568" y="20116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Tiết kiệm 100% token câu lặp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3401568" y="233172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câu hỏi quy trình lặp lại (BHYT, thủ tục, hướng dẫn)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Phản hồi tức thì, không tốn API call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401568" y="3401568"/>
            <a:ext cx="24231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401568" y="347472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3401568" y="3685032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D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Rủi ro stale data nếu quy trình thay đổi mà cache chưa update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6172200" y="1188720"/>
            <a:ext cx="2651760" cy="3474720"/>
          </a:xfrm>
          <a:prstGeom prst="rect">
            <a:avLst/>
          </a:prstGeom>
          <a:solidFill>
            <a:srgbClr val="065A82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172200" y="1188720"/>
            <a:ext cx="2651760" cy="47548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252728"/>
            <a:ext cx="347472" cy="34747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702552" y="126187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Compression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281928" y="173736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E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Khi data lớn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6281928" y="20116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Input Token (phần tốn nhất)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6281928" y="233172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Trích xuất thông tin then chốt từ bệnh án dài trước khi đưa vào LLM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 bỏ nội dung dư thừa trong RAG context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6281928" y="3401568"/>
            <a:ext cx="24231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281928" y="347472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6281928" y="3685032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D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Nén quá mức → mất chi tiết lâm sàng quan trọng</a:t>
            </a:r>
            <a:endParaRPr lang="en-US" sz="850" dirty="0"/>
          </a:p>
        </p:txBody>
      </p:sp>
      <p:sp>
        <p:nvSpPr>
          <p:cNvPr id="35" name="Text 30"/>
          <p:cNvSpPr/>
          <p:nvPr/>
        </p:nvSpPr>
        <p:spPr>
          <a:xfrm>
            <a:off x="411480" y="477316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1E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⚕  Nguyên tắc bất biến: An toàn dữ liệu &amp; Độ chính xác lâm sàng LUÔN đặt trên mọi tối ưu chi phí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828800" cy="274320"/>
          </a:xfrm>
          <a:prstGeom prst="rect">
            <a:avLst/>
          </a:prstGeom>
          <a:solidFill>
            <a:srgbClr val="21E3BB"/>
          </a:solidFill>
          <a:ln w="12700">
            <a:solidFill>
              <a:srgbClr val="21E3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1C2E"/>
                </a:solidFill>
              </a:rPr>
              <a:t>SLIDE 6 · RELIABILITY &amp; SCALING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tin cậy &amp; Xử lý sự cố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205740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216152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Tình huống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60320" y="1188720"/>
            <a:ext cx="205740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33472" y="1216152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 động User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205740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82312" y="1216152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Phản ứng ngay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0" y="1188720"/>
            <a:ext cx="187452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31152" y="1216152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 dài hạn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1572768"/>
            <a:ext cx="2057400" cy="868680"/>
          </a:xfrm>
          <a:prstGeom prst="rect">
            <a:avLst/>
          </a:prstGeom>
          <a:solidFill>
            <a:srgbClr val="FEF9EC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0" y="1572768"/>
            <a:ext cx="2057400" cy="868680"/>
          </a:xfrm>
          <a:prstGeom prst="rect">
            <a:avLst/>
          </a:prstGeom>
          <a:solidFill>
            <a:srgbClr val="FEF9EC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572768"/>
            <a:ext cx="2057400" cy="868680"/>
          </a:xfrm>
          <a:prstGeom prst="rect">
            <a:avLst/>
          </a:prstGeom>
          <a:solidFill>
            <a:srgbClr val="FEF9EC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1572768"/>
            <a:ext cx="1874520" cy="868680"/>
          </a:xfrm>
          <a:prstGeom prst="rect">
            <a:avLst/>
          </a:prstGeom>
          <a:solidFill>
            <a:srgbClr val="FEF9EC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1627632"/>
            <a:ext cx="19293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đột biến (Peak Load)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33472" y="1627632"/>
            <a:ext cx="19293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Bác sĩ chờ lâu, tắc nghẽn quy trình khám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82312" y="1627632"/>
            <a:ext cx="19293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Queue · Ưu tiên cấp cứu · Thông báo user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31152" y="1627632"/>
            <a:ext cx="17465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 instances · Tối ưu Semantic Caching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2487168"/>
            <a:ext cx="2057400" cy="868680"/>
          </a:xfrm>
          <a:prstGeom prst="rect">
            <a:avLst/>
          </a:prstGeom>
          <a:solidFill>
            <a:srgbClr val="FEF0F0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0" y="2487168"/>
            <a:ext cx="2057400" cy="868680"/>
          </a:xfrm>
          <a:prstGeom prst="rect">
            <a:avLst/>
          </a:prstGeom>
          <a:solidFill>
            <a:srgbClr val="FEF0F0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2487168"/>
            <a:ext cx="2057400" cy="868680"/>
          </a:xfrm>
          <a:prstGeom prst="rect">
            <a:avLst/>
          </a:prstGeom>
          <a:solidFill>
            <a:srgbClr val="FEF0F0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0" y="2487168"/>
            <a:ext cx="1874520" cy="868680"/>
          </a:xfrm>
          <a:prstGeom prst="rect">
            <a:avLst/>
          </a:prstGeom>
          <a:solidFill>
            <a:srgbClr val="FEF0F0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2542032"/>
            <a:ext cx="19293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 Timeout (Provider lỗi)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33472" y="2542032"/>
            <a:ext cx="19293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tra cứu thủ tục hành chính, BHYT ngưng trệ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82312" y="2542032"/>
            <a:ext cx="19293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· Fallback FAQ tĩnh / Rule-based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31152" y="2542032"/>
            <a:ext cx="17465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Multi-provider (OpenAI + Anthropic) · Tăng Local LLM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3401568"/>
            <a:ext cx="2057400" cy="868680"/>
          </a:xfrm>
          <a:prstGeom prst="rect">
            <a:avLst/>
          </a:prstGeom>
          <a:solidFill>
            <a:srgbClr val="F0FEF4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0" y="3401568"/>
            <a:ext cx="2057400" cy="868680"/>
          </a:xfrm>
          <a:prstGeom prst="rect">
            <a:avLst/>
          </a:prstGeom>
          <a:solidFill>
            <a:srgbClr val="F0FEF4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3401568"/>
            <a:ext cx="2057400" cy="868680"/>
          </a:xfrm>
          <a:prstGeom prst="rect">
            <a:avLst/>
          </a:prstGeom>
          <a:solidFill>
            <a:srgbClr val="F0FEF4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0" y="3401568"/>
            <a:ext cx="1874520" cy="868680"/>
          </a:xfrm>
          <a:prstGeom prst="rect">
            <a:avLst/>
          </a:prstGeom>
          <a:solidFill>
            <a:srgbClr val="F0FEF4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" y="3456432"/>
            <a:ext cx="19293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cao (Response chậm)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633472" y="3456432"/>
            <a:ext cx="19293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Bác sĩ bỏ qua AI, quay lại thủ công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82312" y="3456432"/>
            <a:ext cx="19293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output · Cắt bước trung gian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31152" y="3456432"/>
            <a:ext cx="17465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ưu GPU on-prem · Model nhỏ hơn cho task đơn giản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1480" y="4370832"/>
            <a:ext cx="402336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41655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Monitor: Latency p95/p99 · Hallucination Rate · Token Throughput · Uptime 99.9%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17720" y="4370832"/>
            <a:ext cx="4114800" cy="640080"/>
          </a:xfrm>
          <a:prstGeom prst="rect">
            <a:avLst/>
          </a:prstGeom>
          <a:solidFill>
            <a:srgbClr val="0A2840"/>
          </a:solidFill>
          <a:ln w="12700">
            <a:solidFill>
              <a:srgbClr val="21E3B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441655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E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Fallback lâm sàng: 'AI đang bận – xem bệnh án gốc tại HIS'  |  Luôn có nút Báo lỗi chuyên môn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1E3BB"/>
          </a:solidFill>
          <a:ln w="12700">
            <a:solidFill>
              <a:srgbClr val="21E3B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01168"/>
            <a:ext cx="1828800" cy="274320"/>
          </a:xfrm>
          <a:prstGeom prst="rect">
            <a:avLst/>
          </a:prstGeom>
          <a:solidFill>
            <a:srgbClr val="21E3BB"/>
          </a:solidFill>
          <a:ln w="12700">
            <a:solidFill>
              <a:srgbClr val="21E3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1C2E"/>
                </a:solidFill>
              </a:rPr>
              <a:t>SLIDE 7 · TRACK &amp; NEXT STEPS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Phase 2 &amp; Bước Tiếp Theo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3977640" cy="1508760"/>
          </a:xfrm>
          <a:prstGeom prst="rect">
            <a:avLst/>
          </a:prstGeom>
          <a:solidFill>
            <a:srgbClr val="065A82"/>
          </a:solidFill>
          <a:ln w="25400">
            <a:solidFill>
              <a:srgbClr val="21E3B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88720"/>
            <a:ext cx="3977640" cy="384048"/>
          </a:xfrm>
          <a:prstGeom prst="rect">
            <a:avLst/>
          </a:prstGeom>
          <a:solidFill>
            <a:srgbClr val="21E3BB"/>
          </a:solidFill>
          <a:ln w="12700">
            <a:solidFill>
              <a:srgbClr val="21E3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22529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1243584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&amp; MLOps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" y="16459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E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 viên: Kiệt · Học · Trung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21208" y="193852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nâng cao, Model Routing, vLLM on-prem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3977640" cy="1508760"/>
          </a:xfrm>
          <a:prstGeom prst="rect">
            <a:avLst/>
          </a:prstGeom>
          <a:solidFill>
            <a:srgbClr val="065A82"/>
          </a:solidFill>
          <a:ln w="25400">
            <a:solidFill>
              <a:srgbClr val="21E3B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188720"/>
            <a:ext cx="3977640" cy="384048"/>
          </a:xfrm>
          <a:prstGeom prst="rect">
            <a:avLst/>
          </a:prstGeom>
          <a:solidFill>
            <a:srgbClr val="21E3BB"/>
          </a:solidFill>
          <a:ln w="12700">
            <a:solidFill>
              <a:srgbClr val="21E3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22529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806440" y="1243584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Application &amp; UX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64608" y="16459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E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 viên: Hà · Khánh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64608" y="193852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Guardrails, UX bác sĩ, HIS/EMR integration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28346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Kỹ năng cần bù đắp để Production-ready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1480" y="3246120"/>
            <a:ext cx="2697480" cy="1325880"/>
          </a:xfrm>
          <a:prstGeom prst="rect">
            <a:avLst/>
          </a:prstGeom>
          <a:solidFill>
            <a:srgbClr val="1C7293"/>
          </a:solidFill>
          <a:ln w="12700">
            <a:solidFill>
              <a:srgbClr val="21E3BB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3310128"/>
            <a:ext cx="411480" cy="41148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005840" y="33192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DevOps/SRE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21208" y="37490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GPU cluster, K8s air-gapped, tối ưu vLLM throughput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291840" y="3246120"/>
            <a:ext cx="2697480" cy="1325880"/>
          </a:xfrm>
          <a:prstGeom prst="rect">
            <a:avLst/>
          </a:prstGeom>
          <a:solidFill>
            <a:srgbClr val="1C7293"/>
          </a:solidFill>
          <a:ln w="12700">
            <a:solidFill>
              <a:srgbClr val="21E3BB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3310128"/>
            <a:ext cx="411480" cy="4114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886200" y="33192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Cybersecurity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3401568" y="37490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De-identification, end-to-end encryption, HIPAA/PDPA compliance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6172200" y="3246120"/>
            <a:ext cx="2697480" cy="1325880"/>
          </a:xfrm>
          <a:prstGeom prst="rect">
            <a:avLst/>
          </a:prstGeom>
          <a:solidFill>
            <a:srgbClr val="1C7293"/>
          </a:solidFill>
          <a:ln w="12700">
            <a:solidFill>
              <a:srgbClr val="21E3BB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3310128"/>
            <a:ext cx="411480" cy="41148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766560" y="33192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UX/UI cho Nhân viên Y tế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281928" y="37490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design cho bác sĩ, tích hợp tự nhiên vào HIS workflow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411480" y="4709160"/>
            <a:ext cx="8321040" cy="320040"/>
          </a:xfrm>
          <a:prstGeom prst="rect">
            <a:avLst/>
          </a:prstGeom>
          <a:solidFill>
            <a:srgbClr val="0A2840"/>
          </a:solidFill>
          <a:ln w="12700">
            <a:solidFill>
              <a:srgbClr val="21E3BB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02920" y="473659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1E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"Hệ thống tin cậy là hệ thống biết từ chối đúng lúc thay vì đưa ra thông tin sai trong y tế."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Clinical Support Assistant</dc:title>
  <dc:subject>PptxGenJS Presentation</dc:subject>
  <dc:creator>PptxGenJS</dc:creator>
  <cp:lastModifiedBy>PptxGenJS</cp:lastModifiedBy>
  <cp:revision>1</cp:revision>
  <dcterms:created xsi:type="dcterms:W3CDTF">2026-04-22T06:15:39Z</dcterms:created>
  <dcterms:modified xsi:type="dcterms:W3CDTF">2026-04-22T06:15:39Z</dcterms:modified>
</cp:coreProperties>
</file>